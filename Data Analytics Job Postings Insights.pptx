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2" r:id="rId10"/>
    <p:sldId id="263" r:id="rId11"/>
    <p:sldId id="266" r:id="rId12"/>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D971A-DE37-DE5C-3C82-D767DA03DE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E01F838F-FA5F-9723-36AF-78CD27897F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2116666C-9BDC-A171-9EAC-44319EE62AEB}"/>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5" name="Footer Placeholder 4">
            <a:extLst>
              <a:ext uri="{FF2B5EF4-FFF2-40B4-BE49-F238E27FC236}">
                <a16:creationId xmlns:a16="http://schemas.microsoft.com/office/drawing/2014/main" id="{1A8538E7-B821-E267-91CE-1E605AD59AFF}"/>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52EF6FCF-7380-21E1-C394-13ABBD890E10}"/>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096692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7354-21D9-20C2-A7D2-926C98FA29A4}"/>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506786EB-175B-8BD1-2B07-A3B3DA7065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77D03961-9173-2814-53DA-172484A83BA7}"/>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5" name="Footer Placeholder 4">
            <a:extLst>
              <a:ext uri="{FF2B5EF4-FFF2-40B4-BE49-F238E27FC236}">
                <a16:creationId xmlns:a16="http://schemas.microsoft.com/office/drawing/2014/main" id="{C461A3A1-3A20-ED69-C20E-6B5484D9BCC9}"/>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7305DE16-74CB-B449-150A-4632282A57A3}"/>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54323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73FA9-AE00-42C2-8614-68AD09E8AE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3918DCDC-E9AC-E89A-1100-54BF5B2A3E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07334C-C85C-E427-28B8-67C900CC7911}"/>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5" name="Footer Placeholder 4">
            <a:extLst>
              <a:ext uri="{FF2B5EF4-FFF2-40B4-BE49-F238E27FC236}">
                <a16:creationId xmlns:a16="http://schemas.microsoft.com/office/drawing/2014/main" id="{7528E5E0-0782-69DB-2A32-4227BCC57139}"/>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36115A87-26F5-4CAE-F076-181D9EC01844}"/>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2106110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981E6-30CE-ECB8-D2D5-5067DBA142C1}"/>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EFDC8800-3688-A7A4-7D63-400CC603ED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6A964A38-57C0-6F03-7C44-71A98D1DB0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191A4526-24CD-1A73-F73F-DFDB46ABFEC7}"/>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6" name="Footer Placeholder 5">
            <a:extLst>
              <a:ext uri="{FF2B5EF4-FFF2-40B4-BE49-F238E27FC236}">
                <a16:creationId xmlns:a16="http://schemas.microsoft.com/office/drawing/2014/main" id="{8B978B90-1108-4F02-0176-7B57EF963084}"/>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28756707-0FB5-B13F-6BF4-B932C016272D}"/>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451590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58472-4D16-E84B-8A5D-AD9814ED3350}"/>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135FD76D-E05C-AB93-D603-7BA255A342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74D59D-8FBE-76C0-F8A8-7E85C7FE42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F01B4A18-8BA5-F13D-4390-BF2D3B03CF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F8CDE1-D8C0-8F7F-E0BD-CB1E6AC6DB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910A553C-0FBE-CBBA-05A0-DA8DA7B2A967}"/>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8" name="Footer Placeholder 7">
            <a:extLst>
              <a:ext uri="{FF2B5EF4-FFF2-40B4-BE49-F238E27FC236}">
                <a16:creationId xmlns:a16="http://schemas.microsoft.com/office/drawing/2014/main" id="{002431AC-2B17-5D8D-F7AA-04AA69542730}"/>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DC66BBDE-6492-EE06-811B-359E154BC8E5}"/>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4023326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21EB0-E137-65D0-8C2F-D8EB37CCDDA0}"/>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E626C1F0-4E8C-7A20-063D-8CB790D6E369}"/>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4" name="Footer Placeholder 3">
            <a:extLst>
              <a:ext uri="{FF2B5EF4-FFF2-40B4-BE49-F238E27FC236}">
                <a16:creationId xmlns:a16="http://schemas.microsoft.com/office/drawing/2014/main" id="{7E84CDBA-CC2A-8A25-CCF1-445E78CE87D6}"/>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693776A7-A20E-D0F1-9BEE-09969638E888}"/>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569036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17DCFB-52A4-56D3-1872-6F6CA81D2626}"/>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3" name="Footer Placeholder 2">
            <a:extLst>
              <a:ext uri="{FF2B5EF4-FFF2-40B4-BE49-F238E27FC236}">
                <a16:creationId xmlns:a16="http://schemas.microsoft.com/office/drawing/2014/main" id="{C8D11A01-45A6-A202-4835-F4998C3CE060}"/>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7852284E-10C6-0F8D-F7E5-2DB0A628DF53}"/>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669626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85FEB-1E0E-568C-2162-36CB52FFEB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EA64BCE4-AB34-15BE-0CE6-CF08E7C3CC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9D9EA36C-D67C-6CA9-B52C-73CC80B95A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549C9B-9667-7C5B-E73F-5C9658D0788A}"/>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6" name="Footer Placeholder 5">
            <a:extLst>
              <a:ext uri="{FF2B5EF4-FFF2-40B4-BE49-F238E27FC236}">
                <a16:creationId xmlns:a16="http://schemas.microsoft.com/office/drawing/2014/main" id="{49D6357A-1173-8CF4-DE30-6814C68ABF4C}"/>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89E158BC-17C0-D2B0-A743-F4C6F6BC38FB}"/>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2203935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DE3C0-E190-7C19-6B10-6D04EE6D25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7CB08244-8E33-324C-55B2-8E423D7F3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FBE8F6CE-B173-5657-ECCA-6693C405D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452724-28E2-C3A8-2428-CECF10828EC5}"/>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6" name="Footer Placeholder 5">
            <a:extLst>
              <a:ext uri="{FF2B5EF4-FFF2-40B4-BE49-F238E27FC236}">
                <a16:creationId xmlns:a16="http://schemas.microsoft.com/office/drawing/2014/main" id="{4796354F-8F8A-AA83-D576-09137122C07A}"/>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30DBB98E-C2C5-990F-59EB-E322AD5A598A}"/>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183393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11165-3AA5-8B0B-B213-DD4859C4BDE0}"/>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FFC44AB7-5845-A769-5FC4-A055865FA0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49F10A7B-1F01-F9E4-5A20-9C1BC1661D63}"/>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5" name="Footer Placeholder 4">
            <a:extLst>
              <a:ext uri="{FF2B5EF4-FFF2-40B4-BE49-F238E27FC236}">
                <a16:creationId xmlns:a16="http://schemas.microsoft.com/office/drawing/2014/main" id="{ABA26718-0841-3D27-DCA5-7ADE6EFA3239}"/>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F2EAC19-BBC9-057C-B7E7-D400518ACD5C}"/>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700051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277B42-9454-DEB8-368A-EAA417521F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A4B27544-38C1-C7E6-2A01-6768C0E151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9D7E0C32-18B7-55F0-49BA-9EC37B7ABE7E}"/>
              </a:ext>
            </a:extLst>
          </p:cNvPr>
          <p:cNvSpPr>
            <a:spLocks noGrp="1"/>
          </p:cNvSpPr>
          <p:nvPr>
            <p:ph type="dt" sz="half" idx="10"/>
          </p:nvPr>
        </p:nvSpPr>
        <p:spPr/>
        <p:txBody>
          <a:bodyPr/>
          <a:lstStyle/>
          <a:p>
            <a:fld id="{16853237-A186-483F-A6C9-A62AC10C6B6D}" type="datetimeFigureOut">
              <a:rPr lang="en-KE" smtClean="0"/>
              <a:t>11/28/2025</a:t>
            </a:fld>
            <a:endParaRPr lang="en-KE"/>
          </a:p>
        </p:txBody>
      </p:sp>
      <p:sp>
        <p:nvSpPr>
          <p:cNvPr id="5" name="Footer Placeholder 4">
            <a:extLst>
              <a:ext uri="{FF2B5EF4-FFF2-40B4-BE49-F238E27FC236}">
                <a16:creationId xmlns:a16="http://schemas.microsoft.com/office/drawing/2014/main" id="{64CDA704-B665-71CA-F603-71219FF648C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899FA25A-8569-B532-75E8-BB2DD982CC45}"/>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28666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97F29E-99C3-D759-5F58-49A55754FE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731893AB-99B6-B3FF-B766-0143E282B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46692523-04EF-423F-5D56-CEB1442737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853237-A186-483F-A6C9-A62AC10C6B6D}" type="datetimeFigureOut">
              <a:rPr lang="en-KE" smtClean="0"/>
              <a:t>11/28/2025</a:t>
            </a:fld>
            <a:endParaRPr lang="en-KE"/>
          </a:p>
        </p:txBody>
      </p:sp>
      <p:sp>
        <p:nvSpPr>
          <p:cNvPr id="5" name="Footer Placeholder 4">
            <a:extLst>
              <a:ext uri="{FF2B5EF4-FFF2-40B4-BE49-F238E27FC236}">
                <a16:creationId xmlns:a16="http://schemas.microsoft.com/office/drawing/2014/main" id="{3471147B-94C8-D604-56E4-28A94F098B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E"/>
          </a:p>
        </p:txBody>
      </p:sp>
      <p:sp>
        <p:nvSpPr>
          <p:cNvPr id="6" name="Slide Number Placeholder 5">
            <a:extLst>
              <a:ext uri="{FF2B5EF4-FFF2-40B4-BE49-F238E27FC236}">
                <a16:creationId xmlns:a16="http://schemas.microsoft.com/office/drawing/2014/main" id="{37942174-A054-C148-D54F-4BFA7BB540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D7E8D5-9C54-4FE4-8D9E-B5CFE7FB7E1F}" type="slidenum">
              <a:rPr lang="en-KE" smtClean="0"/>
              <a:t>‹#›</a:t>
            </a:fld>
            <a:endParaRPr lang="en-KE"/>
          </a:p>
        </p:txBody>
      </p:sp>
    </p:spTree>
    <p:extLst>
      <p:ext uri="{BB962C8B-B14F-4D97-AF65-F5344CB8AC3E}">
        <p14:creationId xmlns:p14="http://schemas.microsoft.com/office/powerpoint/2010/main" val="1246880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66F09-3D90-4093-0E56-D0E85265556B}"/>
              </a:ext>
            </a:extLst>
          </p:cNvPr>
          <p:cNvSpPr>
            <a:spLocks noGrp="1"/>
          </p:cNvSpPr>
          <p:nvPr>
            <p:ph type="ctrTitle"/>
          </p:nvPr>
        </p:nvSpPr>
        <p:spPr/>
        <p:txBody>
          <a:bodyPr/>
          <a:lstStyle/>
          <a:p>
            <a:r>
              <a:rPr lang="en-US" dirty="0"/>
              <a:t>Data Analysis Job</a:t>
            </a:r>
            <a:endParaRPr lang="en-KE" dirty="0"/>
          </a:p>
        </p:txBody>
      </p:sp>
      <p:sp>
        <p:nvSpPr>
          <p:cNvPr id="3" name="Subtitle 2">
            <a:extLst>
              <a:ext uri="{FF2B5EF4-FFF2-40B4-BE49-F238E27FC236}">
                <a16:creationId xmlns:a16="http://schemas.microsoft.com/office/drawing/2014/main" id="{FD5C3D8D-D0E4-58FC-892B-A2379369E5A6}"/>
              </a:ext>
            </a:extLst>
          </p:cNvPr>
          <p:cNvSpPr>
            <a:spLocks noGrp="1"/>
          </p:cNvSpPr>
          <p:nvPr>
            <p:ph type="subTitle" idx="1"/>
          </p:nvPr>
        </p:nvSpPr>
        <p:spPr>
          <a:xfrm>
            <a:off x="990599" y="3602038"/>
            <a:ext cx="10086975" cy="1655762"/>
          </a:xfrm>
        </p:spPr>
        <p:txBody>
          <a:bodyPr/>
          <a:lstStyle/>
          <a:p>
            <a:r>
              <a:rPr lang="en-US" dirty="0"/>
              <a:t>Which job in Data Science should one target  and what skills must you have</a:t>
            </a:r>
            <a:endParaRPr lang="en-KE" dirty="0"/>
          </a:p>
        </p:txBody>
      </p:sp>
    </p:spTree>
    <p:extLst>
      <p:ext uri="{BB962C8B-B14F-4D97-AF65-F5344CB8AC3E}">
        <p14:creationId xmlns:p14="http://schemas.microsoft.com/office/powerpoint/2010/main" val="3463759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DFA6-9976-0407-18F2-C4A148152C7F}"/>
              </a:ext>
            </a:extLst>
          </p:cNvPr>
          <p:cNvSpPr>
            <a:spLocks noGrp="1"/>
          </p:cNvSpPr>
          <p:nvPr>
            <p:ph type="title"/>
          </p:nvPr>
        </p:nvSpPr>
        <p:spPr/>
        <p:txBody>
          <a:bodyPr/>
          <a:lstStyle/>
          <a:p>
            <a:r>
              <a:rPr lang="en-US" dirty="0"/>
              <a:t>Today’s Agenda</a:t>
            </a:r>
            <a:endParaRPr lang="en-KE" dirty="0"/>
          </a:p>
        </p:txBody>
      </p:sp>
      <p:sp>
        <p:nvSpPr>
          <p:cNvPr id="3" name="Content Placeholder 2">
            <a:extLst>
              <a:ext uri="{FF2B5EF4-FFF2-40B4-BE49-F238E27FC236}">
                <a16:creationId xmlns:a16="http://schemas.microsoft.com/office/drawing/2014/main" id="{C61BAD81-C645-8186-FF8F-3953C5AD6C87}"/>
              </a:ext>
            </a:extLst>
          </p:cNvPr>
          <p:cNvSpPr>
            <a:spLocks noGrp="1"/>
          </p:cNvSpPr>
          <p:nvPr>
            <p:ph idx="1"/>
          </p:nvPr>
        </p:nvSpPr>
        <p:spPr/>
        <p:txBody>
          <a:bodyPr/>
          <a:lstStyle/>
          <a:p>
            <a:r>
              <a:rPr lang="en-US" dirty="0"/>
              <a:t>Project recap</a:t>
            </a:r>
          </a:p>
          <a:p>
            <a:r>
              <a:rPr lang="en-US" dirty="0"/>
              <a:t>Problem</a:t>
            </a:r>
          </a:p>
          <a:p>
            <a:r>
              <a:rPr lang="en-US" dirty="0"/>
              <a:t>The Analytics team</a:t>
            </a:r>
          </a:p>
          <a:p>
            <a:r>
              <a:rPr lang="en-US" dirty="0"/>
              <a:t>Process</a:t>
            </a:r>
          </a:p>
          <a:p>
            <a:r>
              <a:rPr lang="en-US" dirty="0"/>
              <a:t>Insights</a:t>
            </a:r>
          </a:p>
          <a:p>
            <a:r>
              <a:rPr lang="en-US" dirty="0"/>
              <a:t>Summary</a:t>
            </a:r>
            <a:endParaRPr lang="en-KE" dirty="0"/>
          </a:p>
        </p:txBody>
      </p:sp>
    </p:spTree>
    <p:extLst>
      <p:ext uri="{BB962C8B-B14F-4D97-AF65-F5344CB8AC3E}">
        <p14:creationId xmlns:p14="http://schemas.microsoft.com/office/powerpoint/2010/main" val="2216034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5F34-1045-D63A-6ACC-AB899FD6DEA9}"/>
              </a:ext>
            </a:extLst>
          </p:cNvPr>
          <p:cNvSpPr>
            <a:spLocks noGrp="1"/>
          </p:cNvSpPr>
          <p:nvPr>
            <p:ph type="title"/>
          </p:nvPr>
        </p:nvSpPr>
        <p:spPr/>
        <p:txBody>
          <a:bodyPr/>
          <a:lstStyle/>
          <a:p>
            <a:r>
              <a:rPr lang="en-US" dirty="0"/>
              <a:t>Project Recap</a:t>
            </a:r>
            <a:endParaRPr lang="en-KE" dirty="0"/>
          </a:p>
        </p:txBody>
      </p:sp>
      <p:sp>
        <p:nvSpPr>
          <p:cNvPr id="3" name="Content Placeholder 2">
            <a:extLst>
              <a:ext uri="{FF2B5EF4-FFF2-40B4-BE49-F238E27FC236}">
                <a16:creationId xmlns:a16="http://schemas.microsoft.com/office/drawing/2014/main" id="{CB859B52-1501-782A-2E28-0F0177A37CEE}"/>
              </a:ext>
            </a:extLst>
          </p:cNvPr>
          <p:cNvSpPr>
            <a:spLocks noGrp="1"/>
          </p:cNvSpPr>
          <p:nvPr>
            <p:ph idx="1"/>
          </p:nvPr>
        </p:nvSpPr>
        <p:spPr/>
        <p:txBody>
          <a:bodyPr>
            <a:normAutofit/>
          </a:bodyPr>
          <a:lstStyle/>
          <a:p>
            <a:pPr marL="0" indent="0">
              <a:buNone/>
            </a:pPr>
            <a:r>
              <a:rPr lang="en-US" dirty="0"/>
              <a:t>In this project, I analyzed a comprehensive dataset containing job requirements across multiple data-related roles, including Data Analyst, Data Scientist, Data Engineer, BI Analyst, Machine Learning Engineer, and other emerging data careers. The goal was to understand skill demands, role patterns, and the relationship between technical competencies and job categories</a:t>
            </a:r>
            <a:endParaRPr lang="en-KE" dirty="0"/>
          </a:p>
        </p:txBody>
      </p:sp>
    </p:spTree>
    <p:extLst>
      <p:ext uri="{BB962C8B-B14F-4D97-AF65-F5344CB8AC3E}">
        <p14:creationId xmlns:p14="http://schemas.microsoft.com/office/powerpoint/2010/main" val="1108900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74327-B040-8EE3-CB4C-DAE72529B681}"/>
              </a:ext>
            </a:extLst>
          </p:cNvPr>
          <p:cNvSpPr>
            <a:spLocks noGrp="1"/>
          </p:cNvSpPr>
          <p:nvPr>
            <p:ph type="title"/>
          </p:nvPr>
        </p:nvSpPr>
        <p:spPr/>
        <p:txBody>
          <a:bodyPr/>
          <a:lstStyle/>
          <a:p>
            <a:r>
              <a:rPr lang="en-US" dirty="0"/>
              <a:t>Problem</a:t>
            </a:r>
            <a:endParaRPr lang="en-KE" dirty="0"/>
          </a:p>
        </p:txBody>
      </p:sp>
      <p:sp>
        <p:nvSpPr>
          <p:cNvPr id="3" name="Content Placeholder 2">
            <a:extLst>
              <a:ext uri="{FF2B5EF4-FFF2-40B4-BE49-F238E27FC236}">
                <a16:creationId xmlns:a16="http://schemas.microsoft.com/office/drawing/2014/main" id="{5DAF483C-F665-916B-60FD-053F19D24B74}"/>
              </a:ext>
            </a:extLst>
          </p:cNvPr>
          <p:cNvSpPr>
            <a:spLocks noGrp="1"/>
          </p:cNvSpPr>
          <p:nvPr>
            <p:ph idx="1"/>
          </p:nvPr>
        </p:nvSpPr>
        <p:spPr/>
        <p:txBody>
          <a:bodyPr/>
          <a:lstStyle/>
          <a:p>
            <a:pPr marL="0" indent="0">
              <a:buNone/>
            </a:pPr>
            <a:r>
              <a:rPr lang="en-US" dirty="0"/>
              <a:t>The job requirement dataset was unstructured, containing varied formats of skills, tools, and job descriptions.</a:t>
            </a:r>
          </a:p>
          <a:p>
            <a:pPr marL="0" indent="0">
              <a:buNone/>
            </a:pPr>
            <a:r>
              <a:rPr lang="en-US" dirty="0"/>
              <a:t>The problem was to clean, standardize, and analyze the dataset to extract meaningful insights about job categories, required skills, and hiring trends.</a:t>
            </a:r>
            <a:endParaRPr lang="en-KE" dirty="0"/>
          </a:p>
        </p:txBody>
      </p:sp>
    </p:spTree>
    <p:extLst>
      <p:ext uri="{BB962C8B-B14F-4D97-AF65-F5344CB8AC3E}">
        <p14:creationId xmlns:p14="http://schemas.microsoft.com/office/powerpoint/2010/main" val="2779485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5F263-284F-2A7A-3303-A7FBA3FDDA66}"/>
              </a:ext>
            </a:extLst>
          </p:cNvPr>
          <p:cNvSpPr>
            <a:spLocks noGrp="1"/>
          </p:cNvSpPr>
          <p:nvPr>
            <p:ph type="title"/>
          </p:nvPr>
        </p:nvSpPr>
        <p:spPr/>
        <p:txBody>
          <a:bodyPr/>
          <a:lstStyle/>
          <a:p>
            <a:r>
              <a:rPr lang="en-US" dirty="0"/>
              <a:t>The Analytics Team</a:t>
            </a:r>
            <a:endParaRPr lang="en-KE" dirty="0"/>
          </a:p>
        </p:txBody>
      </p:sp>
      <p:sp>
        <p:nvSpPr>
          <p:cNvPr id="3" name="Content Placeholder 2">
            <a:extLst>
              <a:ext uri="{FF2B5EF4-FFF2-40B4-BE49-F238E27FC236}">
                <a16:creationId xmlns:a16="http://schemas.microsoft.com/office/drawing/2014/main" id="{13D7D921-0619-8B0B-2D22-4BD783150743}"/>
              </a:ext>
            </a:extLst>
          </p:cNvPr>
          <p:cNvSpPr>
            <a:spLocks noGrp="1"/>
          </p:cNvSpPr>
          <p:nvPr>
            <p:ph idx="1"/>
          </p:nvPr>
        </p:nvSpPr>
        <p:spPr/>
        <p:txBody>
          <a:bodyPr/>
          <a:lstStyle/>
          <a:p>
            <a:r>
              <a:rPr lang="en-US" dirty="0"/>
              <a:t>Luke  </a:t>
            </a:r>
            <a:r>
              <a:rPr lang="en-US" dirty="0" err="1"/>
              <a:t>Barousse</a:t>
            </a:r>
            <a:r>
              <a:rPr lang="en-US" dirty="0"/>
              <a:t> – Senior Principal Data Analysis</a:t>
            </a:r>
          </a:p>
          <a:p>
            <a:r>
              <a:rPr lang="en-US" dirty="0"/>
              <a:t>Moses Macharia – Data Analyst</a:t>
            </a:r>
          </a:p>
        </p:txBody>
      </p:sp>
    </p:spTree>
    <p:extLst>
      <p:ext uri="{BB962C8B-B14F-4D97-AF65-F5344CB8AC3E}">
        <p14:creationId xmlns:p14="http://schemas.microsoft.com/office/powerpoint/2010/main" val="71234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40717-9F52-7F48-DA0C-AE639D3F024A}"/>
              </a:ext>
            </a:extLst>
          </p:cNvPr>
          <p:cNvSpPr>
            <a:spLocks noGrp="1"/>
          </p:cNvSpPr>
          <p:nvPr>
            <p:ph type="title"/>
          </p:nvPr>
        </p:nvSpPr>
        <p:spPr/>
        <p:txBody>
          <a:bodyPr/>
          <a:lstStyle/>
          <a:p>
            <a:r>
              <a:rPr lang="en-US" dirty="0"/>
              <a:t>Process</a:t>
            </a:r>
            <a:endParaRPr lang="en-KE" dirty="0"/>
          </a:p>
        </p:txBody>
      </p:sp>
      <p:sp>
        <p:nvSpPr>
          <p:cNvPr id="3" name="Content Placeholder 2">
            <a:extLst>
              <a:ext uri="{FF2B5EF4-FFF2-40B4-BE49-F238E27FC236}">
                <a16:creationId xmlns:a16="http://schemas.microsoft.com/office/drawing/2014/main" id="{061789D0-A426-0145-2887-8C458AEC3DF3}"/>
              </a:ext>
            </a:extLst>
          </p:cNvPr>
          <p:cNvSpPr>
            <a:spLocks noGrp="1"/>
          </p:cNvSpPr>
          <p:nvPr>
            <p:ph idx="1"/>
          </p:nvPr>
        </p:nvSpPr>
        <p:spPr/>
        <p:txBody>
          <a:bodyPr/>
          <a:lstStyle/>
          <a:p>
            <a:r>
              <a:rPr lang="en-US" dirty="0"/>
              <a:t>Data Understanding</a:t>
            </a:r>
          </a:p>
          <a:p>
            <a:r>
              <a:rPr lang="en-US" dirty="0"/>
              <a:t>Data Cleaning</a:t>
            </a:r>
          </a:p>
          <a:p>
            <a:r>
              <a:rPr lang="en-US" dirty="0"/>
              <a:t>Data Modelling</a:t>
            </a:r>
          </a:p>
          <a:p>
            <a:r>
              <a:rPr lang="en-US" dirty="0"/>
              <a:t>Data Analysis</a:t>
            </a:r>
          </a:p>
        </p:txBody>
      </p:sp>
    </p:spTree>
    <p:extLst>
      <p:ext uri="{BB962C8B-B14F-4D97-AF65-F5344CB8AC3E}">
        <p14:creationId xmlns:p14="http://schemas.microsoft.com/office/powerpoint/2010/main" val="3470608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255B3-421D-1183-88CD-FCC4E1F38C00}"/>
              </a:ext>
            </a:extLst>
          </p:cNvPr>
          <p:cNvSpPr>
            <a:spLocks noGrp="1"/>
          </p:cNvSpPr>
          <p:nvPr>
            <p:ph type="title"/>
          </p:nvPr>
        </p:nvSpPr>
        <p:spPr/>
        <p:txBody>
          <a:bodyPr/>
          <a:lstStyle/>
          <a:p>
            <a:r>
              <a:rPr lang="en-US" dirty="0"/>
              <a:t>INSIGHTS: Top 5 Categories</a:t>
            </a:r>
            <a:endParaRPr lang="en-KE" dirty="0"/>
          </a:p>
        </p:txBody>
      </p:sp>
      <p:pic>
        <p:nvPicPr>
          <p:cNvPr id="5" name="Content Placeholder 4" descr="A bar graph with text">
            <a:extLst>
              <a:ext uri="{FF2B5EF4-FFF2-40B4-BE49-F238E27FC236}">
                <a16:creationId xmlns:a16="http://schemas.microsoft.com/office/drawing/2014/main" id="{53770D39-CF7E-18BF-8CAE-7AA28015C2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515600" cy="4802187"/>
          </a:xfrm>
        </p:spPr>
      </p:pic>
      <p:pic>
        <p:nvPicPr>
          <p:cNvPr id="4" name="Picture 3">
            <a:extLst>
              <a:ext uri="{FF2B5EF4-FFF2-40B4-BE49-F238E27FC236}">
                <a16:creationId xmlns:a16="http://schemas.microsoft.com/office/drawing/2014/main" id="{71A6E633-ACEE-4B14-BBE5-CB739103B46E}"/>
              </a:ext>
            </a:extLst>
          </p:cNvPr>
          <p:cNvPicPr>
            <a:picLocks noChangeAspect="1"/>
          </p:cNvPicPr>
          <p:nvPr/>
        </p:nvPicPr>
        <p:blipFill>
          <a:blip r:embed="rId3"/>
          <a:stretch>
            <a:fillRect/>
          </a:stretch>
        </p:blipFill>
        <p:spPr>
          <a:xfrm>
            <a:off x="433387" y="142875"/>
            <a:ext cx="11325225" cy="6572250"/>
          </a:xfrm>
          <a:prstGeom prst="rect">
            <a:avLst/>
          </a:prstGeom>
        </p:spPr>
      </p:pic>
    </p:spTree>
    <p:extLst>
      <p:ext uri="{BB962C8B-B14F-4D97-AF65-F5344CB8AC3E}">
        <p14:creationId xmlns:p14="http://schemas.microsoft.com/office/powerpoint/2010/main" val="3171953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63ED2-3255-65DA-E889-A8AAAE76B3AC}"/>
              </a:ext>
            </a:extLst>
          </p:cNvPr>
          <p:cNvSpPr>
            <a:spLocks noGrp="1"/>
          </p:cNvSpPr>
          <p:nvPr>
            <p:ph type="title"/>
          </p:nvPr>
        </p:nvSpPr>
        <p:spPr/>
        <p:txBody>
          <a:bodyPr/>
          <a:lstStyle/>
          <a:p>
            <a:r>
              <a:rPr lang="en-US" dirty="0"/>
              <a:t>How many unique categories are there?</a:t>
            </a:r>
            <a:endParaRPr lang="en-KE" dirty="0"/>
          </a:p>
        </p:txBody>
      </p:sp>
      <p:sp>
        <p:nvSpPr>
          <p:cNvPr id="3" name="Content Placeholder 2">
            <a:extLst>
              <a:ext uri="{FF2B5EF4-FFF2-40B4-BE49-F238E27FC236}">
                <a16:creationId xmlns:a16="http://schemas.microsoft.com/office/drawing/2014/main" id="{C097143F-C914-A360-9CFD-88C2CCAC9DCA}"/>
              </a:ext>
            </a:extLst>
          </p:cNvPr>
          <p:cNvSpPr>
            <a:spLocks noGrp="1"/>
          </p:cNvSpPr>
          <p:nvPr>
            <p:ph idx="1"/>
          </p:nvPr>
        </p:nvSpPr>
        <p:spPr>
          <a:xfrm>
            <a:off x="838200" y="1897342"/>
            <a:ext cx="10515600" cy="4351338"/>
          </a:xfrm>
        </p:spPr>
        <p:txBody>
          <a:bodyPr>
            <a:normAutofit fontScale="40000" lnSpcReduction="20000"/>
          </a:bodyPr>
          <a:lstStyle/>
          <a:p>
            <a:pPr marL="0" indent="0">
              <a:buNone/>
            </a:pPr>
            <a:r>
              <a:rPr lang="en-US" dirty="0"/>
              <a:t>There are 16 categories</a:t>
            </a:r>
          </a:p>
          <a:p>
            <a:r>
              <a:rPr lang="en-US" dirty="0"/>
              <a:t>Studying</a:t>
            </a:r>
          </a:p>
          <a:p>
            <a:r>
              <a:rPr lang="en-US" dirty="0"/>
              <a:t>Healthy Eating</a:t>
            </a:r>
          </a:p>
          <a:p>
            <a:r>
              <a:rPr lang="en-US" dirty="0"/>
              <a:t>Technology</a:t>
            </a:r>
          </a:p>
          <a:p>
            <a:r>
              <a:rPr lang="en-US" dirty="0"/>
              <a:t>Food</a:t>
            </a:r>
          </a:p>
          <a:p>
            <a:r>
              <a:rPr lang="en-US" dirty="0"/>
              <a:t>Cooking</a:t>
            </a:r>
          </a:p>
          <a:p>
            <a:r>
              <a:rPr lang="en-US" dirty="0"/>
              <a:t>Dogs</a:t>
            </a:r>
          </a:p>
          <a:p>
            <a:r>
              <a:rPr lang="en-US" dirty="0"/>
              <a:t>Soccer</a:t>
            </a:r>
          </a:p>
          <a:p>
            <a:r>
              <a:rPr lang="en-US" dirty="0"/>
              <a:t>Public Speaking</a:t>
            </a:r>
          </a:p>
          <a:p>
            <a:r>
              <a:rPr lang="en-US" dirty="0"/>
              <a:t>Science</a:t>
            </a:r>
          </a:p>
          <a:p>
            <a:r>
              <a:rPr lang="en-US" dirty="0"/>
              <a:t>Tennis</a:t>
            </a:r>
          </a:p>
          <a:p>
            <a:r>
              <a:rPr lang="en-US" dirty="0"/>
              <a:t>Travel</a:t>
            </a:r>
          </a:p>
          <a:p>
            <a:r>
              <a:rPr lang="en-US" dirty="0"/>
              <a:t>Fitness</a:t>
            </a:r>
          </a:p>
          <a:p>
            <a:r>
              <a:rPr lang="en-US" dirty="0"/>
              <a:t>Education</a:t>
            </a:r>
          </a:p>
          <a:p>
            <a:r>
              <a:rPr lang="en-US" dirty="0"/>
              <a:t>Veganism</a:t>
            </a:r>
          </a:p>
          <a:p>
            <a:r>
              <a:rPr lang="en-US" dirty="0"/>
              <a:t>Animals</a:t>
            </a:r>
          </a:p>
          <a:p>
            <a:r>
              <a:rPr lang="en-US" dirty="0"/>
              <a:t>Culture</a:t>
            </a:r>
            <a:endParaRPr lang="en-KE" dirty="0"/>
          </a:p>
        </p:txBody>
      </p:sp>
      <p:pic>
        <p:nvPicPr>
          <p:cNvPr id="5" name="Picture 4">
            <a:extLst>
              <a:ext uri="{FF2B5EF4-FFF2-40B4-BE49-F238E27FC236}">
                <a16:creationId xmlns:a16="http://schemas.microsoft.com/office/drawing/2014/main" id="{ECAE5FCE-870C-401D-9C59-8CBD790D7A59}"/>
              </a:ext>
            </a:extLst>
          </p:cNvPr>
          <p:cNvPicPr>
            <a:picLocks noChangeAspect="1"/>
          </p:cNvPicPr>
          <p:nvPr/>
        </p:nvPicPr>
        <p:blipFill>
          <a:blip r:embed="rId2"/>
          <a:stretch>
            <a:fillRect/>
          </a:stretch>
        </p:blipFill>
        <p:spPr>
          <a:xfrm>
            <a:off x="62696" y="0"/>
            <a:ext cx="12066608" cy="6858000"/>
          </a:xfrm>
          <a:prstGeom prst="rect">
            <a:avLst/>
          </a:prstGeom>
        </p:spPr>
      </p:pic>
    </p:spTree>
    <p:extLst>
      <p:ext uri="{BB962C8B-B14F-4D97-AF65-F5344CB8AC3E}">
        <p14:creationId xmlns:p14="http://schemas.microsoft.com/office/powerpoint/2010/main" val="1177495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22EC6-488E-3A1B-2DA1-B98C92E4808C}"/>
              </a:ext>
            </a:extLst>
          </p:cNvPr>
          <p:cNvSpPr>
            <a:spLocks noGrp="1"/>
          </p:cNvSpPr>
          <p:nvPr>
            <p:ph type="title"/>
          </p:nvPr>
        </p:nvSpPr>
        <p:spPr/>
        <p:txBody>
          <a:bodyPr/>
          <a:lstStyle/>
          <a:p>
            <a:r>
              <a:rPr lang="en-US" dirty="0"/>
              <a:t>INSIGHTS: Top 5 Content Categories with their Reaction Count</a:t>
            </a:r>
            <a:endParaRPr lang="en-KE" dirty="0"/>
          </a:p>
        </p:txBody>
      </p:sp>
      <p:pic>
        <p:nvPicPr>
          <p:cNvPr id="5" name="Content Placeholder 4" descr="A bar graph with text on it&#10;&#10;Description automatically generated">
            <a:extLst>
              <a:ext uri="{FF2B5EF4-FFF2-40B4-BE49-F238E27FC236}">
                <a16:creationId xmlns:a16="http://schemas.microsoft.com/office/drawing/2014/main" id="{49672F10-5EB6-D7E7-4C1D-3E91558E8C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10515600" cy="4667250"/>
          </a:xfrm>
        </p:spPr>
      </p:pic>
      <p:pic>
        <p:nvPicPr>
          <p:cNvPr id="4" name="Picture 3">
            <a:extLst>
              <a:ext uri="{FF2B5EF4-FFF2-40B4-BE49-F238E27FC236}">
                <a16:creationId xmlns:a16="http://schemas.microsoft.com/office/drawing/2014/main" id="{AEDF7DDD-5BEC-4203-843F-1ACD5E92171D}"/>
              </a:ext>
            </a:extLst>
          </p:cNvPr>
          <p:cNvPicPr>
            <a:picLocks noChangeAspect="1"/>
          </p:cNvPicPr>
          <p:nvPr/>
        </p:nvPicPr>
        <p:blipFill>
          <a:blip r:embed="rId3"/>
          <a:stretch>
            <a:fillRect/>
          </a:stretch>
        </p:blipFill>
        <p:spPr>
          <a:xfrm>
            <a:off x="533400" y="90487"/>
            <a:ext cx="11125200" cy="6677025"/>
          </a:xfrm>
          <a:prstGeom prst="rect">
            <a:avLst/>
          </a:prstGeom>
        </p:spPr>
      </p:pic>
    </p:spTree>
    <p:extLst>
      <p:ext uri="{BB962C8B-B14F-4D97-AF65-F5344CB8AC3E}">
        <p14:creationId xmlns:p14="http://schemas.microsoft.com/office/powerpoint/2010/main" val="2024251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05BDD-75CD-3F97-B918-53D0D1C8D469}"/>
              </a:ext>
            </a:extLst>
          </p:cNvPr>
          <p:cNvSpPr>
            <a:spLocks noGrp="1"/>
          </p:cNvSpPr>
          <p:nvPr>
            <p:ph type="title"/>
          </p:nvPr>
        </p:nvSpPr>
        <p:spPr/>
        <p:txBody>
          <a:bodyPr/>
          <a:lstStyle/>
          <a:p>
            <a:r>
              <a:rPr lang="en-US" dirty="0"/>
              <a:t>What was the month with the most posts?</a:t>
            </a:r>
            <a:endParaRPr lang="en-KE" dirty="0"/>
          </a:p>
        </p:txBody>
      </p:sp>
      <p:sp>
        <p:nvSpPr>
          <p:cNvPr id="3" name="Content Placeholder 2">
            <a:extLst>
              <a:ext uri="{FF2B5EF4-FFF2-40B4-BE49-F238E27FC236}">
                <a16:creationId xmlns:a16="http://schemas.microsoft.com/office/drawing/2014/main" id="{8383FB9D-DC65-9801-1608-CD892D71FF86}"/>
              </a:ext>
            </a:extLst>
          </p:cNvPr>
          <p:cNvSpPr>
            <a:spLocks noGrp="1"/>
          </p:cNvSpPr>
          <p:nvPr>
            <p:ph idx="1"/>
          </p:nvPr>
        </p:nvSpPr>
        <p:spPr/>
        <p:txBody>
          <a:bodyPr/>
          <a:lstStyle/>
          <a:p>
            <a:pPr marL="0" indent="0">
              <a:buNone/>
            </a:pPr>
            <a:r>
              <a:rPr lang="en-US" dirty="0"/>
              <a:t> The month with the most posts is the month of May.</a:t>
            </a:r>
          </a:p>
          <a:p>
            <a:pPr marL="0" indent="0">
              <a:buNone/>
            </a:pPr>
            <a:endParaRPr lang="en-KE" dirty="0"/>
          </a:p>
        </p:txBody>
      </p:sp>
      <p:pic>
        <p:nvPicPr>
          <p:cNvPr id="5" name="Picture 4" descr="A graph of blue bars&#10;&#10;Description automatically generated">
            <a:extLst>
              <a:ext uri="{FF2B5EF4-FFF2-40B4-BE49-F238E27FC236}">
                <a16:creationId xmlns:a16="http://schemas.microsoft.com/office/drawing/2014/main" id="{39BBE7E2-5532-E9CD-0915-8BADA0478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1" y="2348752"/>
            <a:ext cx="10515600" cy="4144123"/>
          </a:xfrm>
          <a:prstGeom prst="rect">
            <a:avLst/>
          </a:prstGeom>
        </p:spPr>
      </p:pic>
      <p:pic>
        <p:nvPicPr>
          <p:cNvPr id="6" name="Picture 5">
            <a:extLst>
              <a:ext uri="{FF2B5EF4-FFF2-40B4-BE49-F238E27FC236}">
                <a16:creationId xmlns:a16="http://schemas.microsoft.com/office/drawing/2014/main" id="{7B97FCAE-B895-432B-91FE-626D2B1087A4}"/>
              </a:ext>
            </a:extLst>
          </p:cNvPr>
          <p:cNvPicPr>
            <a:picLocks noChangeAspect="1"/>
          </p:cNvPicPr>
          <p:nvPr/>
        </p:nvPicPr>
        <p:blipFill>
          <a:blip r:embed="rId3"/>
          <a:stretch>
            <a:fillRect/>
          </a:stretch>
        </p:blipFill>
        <p:spPr>
          <a:xfrm>
            <a:off x="1185862" y="557212"/>
            <a:ext cx="9820275" cy="5743575"/>
          </a:xfrm>
          <a:prstGeom prst="rect">
            <a:avLst/>
          </a:prstGeom>
        </p:spPr>
      </p:pic>
    </p:spTree>
    <p:extLst>
      <p:ext uri="{BB962C8B-B14F-4D97-AF65-F5344CB8AC3E}">
        <p14:creationId xmlns:p14="http://schemas.microsoft.com/office/powerpoint/2010/main" val="2618559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B0F00B-6D33-401D-8EFD-83056D435D83}"/>
              </a:ext>
            </a:extLst>
          </p:cNvPr>
          <p:cNvPicPr>
            <a:picLocks noChangeAspect="1"/>
          </p:cNvPicPr>
          <p:nvPr/>
        </p:nvPicPr>
        <p:blipFill>
          <a:blip r:embed="rId2"/>
          <a:stretch>
            <a:fillRect/>
          </a:stretch>
        </p:blipFill>
        <p:spPr>
          <a:xfrm>
            <a:off x="1185862" y="595312"/>
            <a:ext cx="9820275" cy="5667375"/>
          </a:xfrm>
          <a:prstGeom prst="rect">
            <a:avLst/>
          </a:prstGeom>
        </p:spPr>
      </p:pic>
    </p:spTree>
    <p:extLst>
      <p:ext uri="{BB962C8B-B14F-4D97-AF65-F5344CB8AC3E}">
        <p14:creationId xmlns:p14="http://schemas.microsoft.com/office/powerpoint/2010/main" val="834873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960</TotalTime>
  <Words>227</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Data Analysis Job</vt:lpstr>
      <vt:lpstr>Today’s Agenda</vt:lpstr>
      <vt:lpstr>Project Recap</vt:lpstr>
      <vt:lpstr>Problem</vt:lpstr>
      <vt:lpstr>The Analytics Team</vt:lpstr>
      <vt:lpstr>Process</vt:lpstr>
      <vt:lpstr>INSIGHTS: Top 5 Categories</vt:lpstr>
      <vt:lpstr>How many unique categories are there?</vt:lpstr>
      <vt:lpstr>INSIGHTS: Top 5 Content Categories with their Reaction Count</vt:lpstr>
      <vt:lpstr>What was the month with the most posts?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Job</dc:title>
  <dc:creator>Umer Hamdan</dc:creator>
  <cp:lastModifiedBy>moses macharia</cp:lastModifiedBy>
  <cp:revision>8</cp:revision>
  <dcterms:created xsi:type="dcterms:W3CDTF">2024-09-11T10:10:33Z</dcterms:created>
  <dcterms:modified xsi:type="dcterms:W3CDTF">2025-11-29T06:14:36Z</dcterms:modified>
</cp:coreProperties>
</file>