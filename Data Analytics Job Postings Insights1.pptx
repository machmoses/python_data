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2" r:id="rId10"/>
    <p:sldId id="263" r:id="rId11"/>
    <p:sldId id="266" r:id="rId12"/>
    <p:sldId id="267" r:id="rId13"/>
    <p:sldId id="268" r:id="rId14"/>
    <p:sldId id="269" r:id="rId15"/>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D971A-DE37-DE5C-3C82-D767DA03DE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E01F838F-FA5F-9723-36AF-78CD27897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2116666C-9BDC-A171-9EAC-44319EE62AEB}"/>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5" name="Footer Placeholder 4">
            <a:extLst>
              <a:ext uri="{FF2B5EF4-FFF2-40B4-BE49-F238E27FC236}">
                <a16:creationId xmlns:a16="http://schemas.microsoft.com/office/drawing/2014/main" id="{1A8538E7-B821-E267-91CE-1E605AD59AFF}"/>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2EF6FCF-7380-21E1-C394-13ABBD890E10}"/>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096692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7354-21D9-20C2-A7D2-926C98FA29A4}"/>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506786EB-175B-8BD1-2B07-A3B3DA7065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7D03961-9173-2814-53DA-172484A83BA7}"/>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5" name="Footer Placeholder 4">
            <a:extLst>
              <a:ext uri="{FF2B5EF4-FFF2-40B4-BE49-F238E27FC236}">
                <a16:creationId xmlns:a16="http://schemas.microsoft.com/office/drawing/2014/main" id="{C461A3A1-3A20-ED69-C20E-6B5484D9BCC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7305DE16-74CB-B449-150A-4632282A57A3}"/>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54323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73FA9-AE00-42C2-8614-68AD09E8AE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3918DCDC-E9AC-E89A-1100-54BF5B2A3E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07334C-C85C-E427-28B8-67C900CC7911}"/>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5" name="Footer Placeholder 4">
            <a:extLst>
              <a:ext uri="{FF2B5EF4-FFF2-40B4-BE49-F238E27FC236}">
                <a16:creationId xmlns:a16="http://schemas.microsoft.com/office/drawing/2014/main" id="{7528E5E0-0782-69DB-2A32-4227BCC5713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6115A87-26F5-4CAE-F076-181D9EC01844}"/>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2106110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81E6-30CE-ECB8-D2D5-5067DBA142C1}"/>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EFDC8800-3688-A7A4-7D63-400CC603ED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6A964A38-57C0-6F03-7C44-71A98D1DB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191A4526-24CD-1A73-F73F-DFDB46ABFEC7}"/>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6" name="Footer Placeholder 5">
            <a:extLst>
              <a:ext uri="{FF2B5EF4-FFF2-40B4-BE49-F238E27FC236}">
                <a16:creationId xmlns:a16="http://schemas.microsoft.com/office/drawing/2014/main" id="{8B978B90-1108-4F02-0176-7B57EF963084}"/>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28756707-0FB5-B13F-6BF4-B932C016272D}"/>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451590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8472-4D16-E84B-8A5D-AD9814ED3350}"/>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135FD76D-E05C-AB93-D603-7BA255A342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74D59D-8FBE-76C0-F8A8-7E85C7FE4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F01B4A18-8BA5-F13D-4390-BF2D3B03CF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F8CDE1-D8C0-8F7F-E0BD-CB1E6AC6DB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910A553C-0FBE-CBBA-05A0-DA8DA7B2A967}"/>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8" name="Footer Placeholder 7">
            <a:extLst>
              <a:ext uri="{FF2B5EF4-FFF2-40B4-BE49-F238E27FC236}">
                <a16:creationId xmlns:a16="http://schemas.microsoft.com/office/drawing/2014/main" id="{002431AC-2B17-5D8D-F7AA-04AA69542730}"/>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DC66BBDE-6492-EE06-811B-359E154BC8E5}"/>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4023326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21EB0-E137-65D0-8C2F-D8EB37CCDDA0}"/>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E626C1F0-4E8C-7A20-063D-8CB790D6E369}"/>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4" name="Footer Placeholder 3">
            <a:extLst>
              <a:ext uri="{FF2B5EF4-FFF2-40B4-BE49-F238E27FC236}">
                <a16:creationId xmlns:a16="http://schemas.microsoft.com/office/drawing/2014/main" id="{7E84CDBA-CC2A-8A25-CCF1-445E78CE87D6}"/>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693776A7-A20E-D0F1-9BEE-09969638E888}"/>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569036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17DCFB-52A4-56D3-1872-6F6CA81D2626}"/>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3" name="Footer Placeholder 2">
            <a:extLst>
              <a:ext uri="{FF2B5EF4-FFF2-40B4-BE49-F238E27FC236}">
                <a16:creationId xmlns:a16="http://schemas.microsoft.com/office/drawing/2014/main" id="{C8D11A01-45A6-A202-4835-F4998C3CE060}"/>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7852284E-10C6-0F8D-F7E5-2DB0A628DF53}"/>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66962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5FEB-1E0E-568C-2162-36CB52FFE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EA64BCE4-AB34-15BE-0CE6-CF08E7C3C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9D9EA36C-D67C-6CA9-B52C-73CC80B95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49C9B-9667-7C5B-E73F-5C9658D0788A}"/>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6" name="Footer Placeholder 5">
            <a:extLst>
              <a:ext uri="{FF2B5EF4-FFF2-40B4-BE49-F238E27FC236}">
                <a16:creationId xmlns:a16="http://schemas.microsoft.com/office/drawing/2014/main" id="{49D6357A-1173-8CF4-DE30-6814C68ABF4C}"/>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89E158BC-17C0-D2B0-A743-F4C6F6BC38FB}"/>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2203935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E3C0-E190-7C19-6B10-6D04EE6D2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7CB08244-8E33-324C-55B2-8E423D7F3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FBE8F6CE-B173-5657-ECCA-6693C405D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452724-28E2-C3A8-2428-CECF10828EC5}"/>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6" name="Footer Placeholder 5">
            <a:extLst>
              <a:ext uri="{FF2B5EF4-FFF2-40B4-BE49-F238E27FC236}">
                <a16:creationId xmlns:a16="http://schemas.microsoft.com/office/drawing/2014/main" id="{4796354F-8F8A-AA83-D576-09137122C07A}"/>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30DBB98E-C2C5-990F-59EB-E322AD5A598A}"/>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183393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11165-3AA5-8B0B-B213-DD4859C4BDE0}"/>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FFC44AB7-5845-A769-5FC4-A055865FA0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49F10A7B-1F01-F9E4-5A20-9C1BC1661D63}"/>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5" name="Footer Placeholder 4">
            <a:extLst>
              <a:ext uri="{FF2B5EF4-FFF2-40B4-BE49-F238E27FC236}">
                <a16:creationId xmlns:a16="http://schemas.microsoft.com/office/drawing/2014/main" id="{ABA26718-0841-3D27-DCA5-7ADE6EFA323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F2EAC19-BBC9-057C-B7E7-D400518ACD5C}"/>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700051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77B42-9454-DEB8-368A-EAA417521F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A4B27544-38C1-C7E6-2A01-6768C0E151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9D7E0C32-18B7-55F0-49BA-9EC37B7ABE7E}"/>
              </a:ext>
            </a:extLst>
          </p:cNvPr>
          <p:cNvSpPr>
            <a:spLocks noGrp="1"/>
          </p:cNvSpPr>
          <p:nvPr>
            <p:ph type="dt" sz="half" idx="10"/>
          </p:nvPr>
        </p:nvSpPr>
        <p:spPr/>
        <p:txBody>
          <a:bodyPr/>
          <a:lstStyle/>
          <a:p>
            <a:fld id="{16853237-A186-483F-A6C9-A62AC10C6B6D}" type="datetimeFigureOut">
              <a:rPr lang="en-KE" smtClean="0"/>
              <a:t>11/30/2025</a:t>
            </a:fld>
            <a:endParaRPr lang="en-KE"/>
          </a:p>
        </p:txBody>
      </p:sp>
      <p:sp>
        <p:nvSpPr>
          <p:cNvPr id="5" name="Footer Placeholder 4">
            <a:extLst>
              <a:ext uri="{FF2B5EF4-FFF2-40B4-BE49-F238E27FC236}">
                <a16:creationId xmlns:a16="http://schemas.microsoft.com/office/drawing/2014/main" id="{64CDA704-B665-71CA-F603-71219FF648C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899FA25A-8569-B532-75E8-BB2DD982CC45}"/>
              </a:ext>
            </a:extLst>
          </p:cNvPr>
          <p:cNvSpPr>
            <a:spLocks noGrp="1"/>
          </p:cNvSpPr>
          <p:nvPr>
            <p:ph type="sldNum" sz="quarter" idx="12"/>
          </p:nvPr>
        </p:nvSpPr>
        <p:spPr/>
        <p:txBody>
          <a:bodyPr/>
          <a:lstStyle/>
          <a:p>
            <a:fld id="{F0D7E8D5-9C54-4FE4-8D9E-B5CFE7FB7E1F}" type="slidenum">
              <a:rPr lang="en-KE" smtClean="0"/>
              <a:t>‹#›</a:t>
            </a:fld>
            <a:endParaRPr lang="en-KE"/>
          </a:p>
        </p:txBody>
      </p:sp>
    </p:spTree>
    <p:extLst>
      <p:ext uri="{BB962C8B-B14F-4D97-AF65-F5344CB8AC3E}">
        <p14:creationId xmlns:p14="http://schemas.microsoft.com/office/powerpoint/2010/main" val="328666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97F29E-99C3-D759-5F58-49A55754FE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731893AB-99B6-B3FF-B766-0143E282B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46692523-04EF-423F-5D56-CEB1442737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853237-A186-483F-A6C9-A62AC10C6B6D}" type="datetimeFigureOut">
              <a:rPr lang="en-KE" smtClean="0"/>
              <a:t>11/30/2025</a:t>
            </a:fld>
            <a:endParaRPr lang="en-KE"/>
          </a:p>
        </p:txBody>
      </p:sp>
      <p:sp>
        <p:nvSpPr>
          <p:cNvPr id="5" name="Footer Placeholder 4">
            <a:extLst>
              <a:ext uri="{FF2B5EF4-FFF2-40B4-BE49-F238E27FC236}">
                <a16:creationId xmlns:a16="http://schemas.microsoft.com/office/drawing/2014/main" id="{3471147B-94C8-D604-56E4-28A94F098B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E"/>
          </a:p>
        </p:txBody>
      </p:sp>
      <p:sp>
        <p:nvSpPr>
          <p:cNvPr id="6" name="Slide Number Placeholder 5">
            <a:extLst>
              <a:ext uri="{FF2B5EF4-FFF2-40B4-BE49-F238E27FC236}">
                <a16:creationId xmlns:a16="http://schemas.microsoft.com/office/drawing/2014/main" id="{37942174-A054-C148-D54F-4BFA7BB540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D7E8D5-9C54-4FE4-8D9E-B5CFE7FB7E1F}" type="slidenum">
              <a:rPr lang="en-KE" smtClean="0"/>
              <a:t>‹#›</a:t>
            </a:fld>
            <a:endParaRPr lang="en-KE"/>
          </a:p>
        </p:txBody>
      </p:sp>
    </p:spTree>
    <p:extLst>
      <p:ext uri="{BB962C8B-B14F-4D97-AF65-F5344CB8AC3E}">
        <p14:creationId xmlns:p14="http://schemas.microsoft.com/office/powerpoint/2010/main" val="1246880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6F09-3D90-4093-0E56-D0E85265556B}"/>
              </a:ext>
            </a:extLst>
          </p:cNvPr>
          <p:cNvSpPr>
            <a:spLocks noGrp="1"/>
          </p:cNvSpPr>
          <p:nvPr>
            <p:ph type="ctrTitle"/>
          </p:nvPr>
        </p:nvSpPr>
        <p:spPr/>
        <p:txBody>
          <a:bodyPr/>
          <a:lstStyle/>
          <a:p>
            <a:r>
              <a:rPr lang="en-US" dirty="0"/>
              <a:t>Data Analysis Job</a:t>
            </a:r>
            <a:endParaRPr lang="en-KE" dirty="0"/>
          </a:p>
        </p:txBody>
      </p:sp>
      <p:sp>
        <p:nvSpPr>
          <p:cNvPr id="3" name="Subtitle 2">
            <a:extLst>
              <a:ext uri="{FF2B5EF4-FFF2-40B4-BE49-F238E27FC236}">
                <a16:creationId xmlns:a16="http://schemas.microsoft.com/office/drawing/2014/main" id="{FD5C3D8D-D0E4-58FC-892B-A2379369E5A6}"/>
              </a:ext>
            </a:extLst>
          </p:cNvPr>
          <p:cNvSpPr>
            <a:spLocks noGrp="1"/>
          </p:cNvSpPr>
          <p:nvPr>
            <p:ph type="subTitle" idx="1"/>
          </p:nvPr>
        </p:nvSpPr>
        <p:spPr>
          <a:xfrm>
            <a:off x="990599" y="3602038"/>
            <a:ext cx="10086975" cy="1655762"/>
          </a:xfrm>
        </p:spPr>
        <p:txBody>
          <a:bodyPr/>
          <a:lstStyle/>
          <a:p>
            <a:r>
              <a:rPr lang="en-US" dirty="0"/>
              <a:t>Which job in Data Science should one target  and what skills must you have</a:t>
            </a:r>
            <a:endParaRPr lang="en-KE" dirty="0"/>
          </a:p>
        </p:txBody>
      </p:sp>
    </p:spTree>
    <p:extLst>
      <p:ext uri="{BB962C8B-B14F-4D97-AF65-F5344CB8AC3E}">
        <p14:creationId xmlns:p14="http://schemas.microsoft.com/office/powerpoint/2010/main" val="346375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DFA6-9976-0407-18F2-C4A148152C7F}"/>
              </a:ext>
            </a:extLst>
          </p:cNvPr>
          <p:cNvSpPr>
            <a:spLocks noGrp="1"/>
          </p:cNvSpPr>
          <p:nvPr>
            <p:ph type="title"/>
          </p:nvPr>
        </p:nvSpPr>
        <p:spPr/>
        <p:txBody>
          <a:bodyPr/>
          <a:lstStyle/>
          <a:p>
            <a:r>
              <a:rPr lang="en-US" dirty="0"/>
              <a:t>Today’s Agenda</a:t>
            </a:r>
            <a:endParaRPr lang="en-KE" dirty="0"/>
          </a:p>
        </p:txBody>
      </p:sp>
      <p:sp>
        <p:nvSpPr>
          <p:cNvPr id="3" name="Content Placeholder 2">
            <a:extLst>
              <a:ext uri="{FF2B5EF4-FFF2-40B4-BE49-F238E27FC236}">
                <a16:creationId xmlns:a16="http://schemas.microsoft.com/office/drawing/2014/main" id="{C61BAD81-C645-8186-FF8F-3953C5AD6C87}"/>
              </a:ext>
            </a:extLst>
          </p:cNvPr>
          <p:cNvSpPr>
            <a:spLocks noGrp="1"/>
          </p:cNvSpPr>
          <p:nvPr>
            <p:ph idx="1"/>
          </p:nvPr>
        </p:nvSpPr>
        <p:spPr/>
        <p:txBody>
          <a:bodyPr/>
          <a:lstStyle/>
          <a:p>
            <a:r>
              <a:rPr lang="en-US" dirty="0"/>
              <a:t>Project recap</a:t>
            </a:r>
          </a:p>
          <a:p>
            <a:r>
              <a:rPr lang="en-US" dirty="0"/>
              <a:t>Problem</a:t>
            </a:r>
          </a:p>
          <a:p>
            <a:r>
              <a:rPr lang="en-US" dirty="0"/>
              <a:t>The Analytics team</a:t>
            </a:r>
          </a:p>
          <a:p>
            <a:r>
              <a:rPr lang="en-US" dirty="0"/>
              <a:t>Process</a:t>
            </a:r>
          </a:p>
          <a:p>
            <a:r>
              <a:rPr lang="en-US" dirty="0"/>
              <a:t>Insights</a:t>
            </a:r>
          </a:p>
          <a:p>
            <a:r>
              <a:rPr lang="en-US" dirty="0"/>
              <a:t>Summary</a:t>
            </a:r>
            <a:endParaRPr lang="en-KE" dirty="0"/>
          </a:p>
        </p:txBody>
      </p:sp>
    </p:spTree>
    <p:extLst>
      <p:ext uri="{BB962C8B-B14F-4D97-AF65-F5344CB8AC3E}">
        <p14:creationId xmlns:p14="http://schemas.microsoft.com/office/powerpoint/2010/main" val="221603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5F34-1045-D63A-6ACC-AB899FD6DEA9}"/>
              </a:ext>
            </a:extLst>
          </p:cNvPr>
          <p:cNvSpPr>
            <a:spLocks noGrp="1"/>
          </p:cNvSpPr>
          <p:nvPr>
            <p:ph type="title"/>
          </p:nvPr>
        </p:nvSpPr>
        <p:spPr/>
        <p:txBody>
          <a:bodyPr/>
          <a:lstStyle/>
          <a:p>
            <a:r>
              <a:rPr lang="en-US" dirty="0"/>
              <a:t>Project Recap</a:t>
            </a:r>
            <a:endParaRPr lang="en-KE" dirty="0"/>
          </a:p>
        </p:txBody>
      </p:sp>
      <p:sp>
        <p:nvSpPr>
          <p:cNvPr id="3" name="Content Placeholder 2">
            <a:extLst>
              <a:ext uri="{FF2B5EF4-FFF2-40B4-BE49-F238E27FC236}">
                <a16:creationId xmlns:a16="http://schemas.microsoft.com/office/drawing/2014/main" id="{CB859B52-1501-782A-2E28-0F0177A37CEE}"/>
              </a:ext>
            </a:extLst>
          </p:cNvPr>
          <p:cNvSpPr>
            <a:spLocks noGrp="1"/>
          </p:cNvSpPr>
          <p:nvPr>
            <p:ph idx="1"/>
          </p:nvPr>
        </p:nvSpPr>
        <p:spPr/>
        <p:txBody>
          <a:bodyPr>
            <a:normAutofit/>
          </a:bodyPr>
          <a:lstStyle/>
          <a:p>
            <a:pPr marL="0" indent="0">
              <a:buNone/>
            </a:pPr>
            <a:r>
              <a:rPr lang="en-US" dirty="0"/>
              <a:t>In this project, I analyzed a comprehensive dataset containing job requirements across multiple data-related roles, including Data Analyst, Data Scientist, Data Engineer, BI Analyst, Machine Learning Engineer, and other emerging data careers. The goal was to understand skill demands, platforms you should always keep on check for employment, salary and the relationship between technical competencies and job categories</a:t>
            </a:r>
            <a:endParaRPr lang="en-KE" dirty="0"/>
          </a:p>
        </p:txBody>
      </p:sp>
    </p:spTree>
    <p:extLst>
      <p:ext uri="{BB962C8B-B14F-4D97-AF65-F5344CB8AC3E}">
        <p14:creationId xmlns:p14="http://schemas.microsoft.com/office/powerpoint/2010/main" val="1108900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74327-B040-8EE3-CB4C-DAE72529B681}"/>
              </a:ext>
            </a:extLst>
          </p:cNvPr>
          <p:cNvSpPr>
            <a:spLocks noGrp="1"/>
          </p:cNvSpPr>
          <p:nvPr>
            <p:ph type="title"/>
          </p:nvPr>
        </p:nvSpPr>
        <p:spPr/>
        <p:txBody>
          <a:bodyPr/>
          <a:lstStyle/>
          <a:p>
            <a:r>
              <a:rPr lang="en-US" dirty="0"/>
              <a:t>Problem</a:t>
            </a:r>
            <a:endParaRPr lang="en-KE" dirty="0"/>
          </a:p>
        </p:txBody>
      </p:sp>
      <p:sp>
        <p:nvSpPr>
          <p:cNvPr id="3" name="Content Placeholder 2">
            <a:extLst>
              <a:ext uri="{FF2B5EF4-FFF2-40B4-BE49-F238E27FC236}">
                <a16:creationId xmlns:a16="http://schemas.microsoft.com/office/drawing/2014/main" id="{5DAF483C-F665-916B-60FD-053F19D24B74}"/>
              </a:ext>
            </a:extLst>
          </p:cNvPr>
          <p:cNvSpPr>
            <a:spLocks noGrp="1"/>
          </p:cNvSpPr>
          <p:nvPr>
            <p:ph idx="1"/>
          </p:nvPr>
        </p:nvSpPr>
        <p:spPr/>
        <p:txBody>
          <a:bodyPr/>
          <a:lstStyle/>
          <a:p>
            <a:pPr marL="0" indent="0">
              <a:buNone/>
            </a:pPr>
            <a:r>
              <a:rPr lang="en-US" dirty="0"/>
              <a:t>The job requirement dataset was unstructured, containing different data types and formats of skills, tools, and job descriptions.</a:t>
            </a:r>
          </a:p>
          <a:p>
            <a:pPr marL="0" indent="0">
              <a:buNone/>
            </a:pPr>
            <a:r>
              <a:rPr lang="en-US" dirty="0"/>
              <a:t>The problem was to clean, standardize, and analyze the dataset to extract meaningful insights about job categories, required skills, and hiring trends.</a:t>
            </a:r>
            <a:endParaRPr lang="en-KE" dirty="0"/>
          </a:p>
        </p:txBody>
      </p:sp>
    </p:spTree>
    <p:extLst>
      <p:ext uri="{BB962C8B-B14F-4D97-AF65-F5344CB8AC3E}">
        <p14:creationId xmlns:p14="http://schemas.microsoft.com/office/powerpoint/2010/main" val="2779485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5F263-284F-2A7A-3303-A7FBA3FDDA66}"/>
              </a:ext>
            </a:extLst>
          </p:cNvPr>
          <p:cNvSpPr>
            <a:spLocks noGrp="1"/>
          </p:cNvSpPr>
          <p:nvPr>
            <p:ph type="title"/>
          </p:nvPr>
        </p:nvSpPr>
        <p:spPr/>
        <p:txBody>
          <a:bodyPr/>
          <a:lstStyle/>
          <a:p>
            <a:r>
              <a:rPr lang="en-US" dirty="0"/>
              <a:t>The Analytics Team</a:t>
            </a:r>
            <a:endParaRPr lang="en-KE" dirty="0"/>
          </a:p>
        </p:txBody>
      </p:sp>
      <p:sp>
        <p:nvSpPr>
          <p:cNvPr id="3" name="Content Placeholder 2">
            <a:extLst>
              <a:ext uri="{FF2B5EF4-FFF2-40B4-BE49-F238E27FC236}">
                <a16:creationId xmlns:a16="http://schemas.microsoft.com/office/drawing/2014/main" id="{13D7D921-0619-8B0B-2D22-4BD783150743}"/>
              </a:ext>
            </a:extLst>
          </p:cNvPr>
          <p:cNvSpPr>
            <a:spLocks noGrp="1"/>
          </p:cNvSpPr>
          <p:nvPr>
            <p:ph idx="1"/>
          </p:nvPr>
        </p:nvSpPr>
        <p:spPr/>
        <p:txBody>
          <a:bodyPr/>
          <a:lstStyle/>
          <a:p>
            <a:r>
              <a:rPr lang="en-US" dirty="0"/>
              <a:t>Luke  </a:t>
            </a:r>
            <a:r>
              <a:rPr lang="en-US" dirty="0" err="1"/>
              <a:t>Barousse</a:t>
            </a:r>
            <a:r>
              <a:rPr lang="en-US" dirty="0"/>
              <a:t> – Senior Principal Data Analysis</a:t>
            </a:r>
          </a:p>
          <a:p>
            <a:r>
              <a:rPr lang="en-US" dirty="0"/>
              <a:t>Moses Macharia – Data Analyst</a:t>
            </a:r>
          </a:p>
        </p:txBody>
      </p:sp>
    </p:spTree>
    <p:extLst>
      <p:ext uri="{BB962C8B-B14F-4D97-AF65-F5344CB8AC3E}">
        <p14:creationId xmlns:p14="http://schemas.microsoft.com/office/powerpoint/2010/main" val="71234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40717-9F52-7F48-DA0C-AE639D3F024A}"/>
              </a:ext>
            </a:extLst>
          </p:cNvPr>
          <p:cNvSpPr>
            <a:spLocks noGrp="1"/>
          </p:cNvSpPr>
          <p:nvPr>
            <p:ph type="title"/>
          </p:nvPr>
        </p:nvSpPr>
        <p:spPr/>
        <p:txBody>
          <a:bodyPr/>
          <a:lstStyle/>
          <a:p>
            <a:r>
              <a:rPr lang="en-US" dirty="0"/>
              <a:t>Process</a:t>
            </a:r>
            <a:endParaRPr lang="en-KE" dirty="0"/>
          </a:p>
        </p:txBody>
      </p:sp>
      <p:sp>
        <p:nvSpPr>
          <p:cNvPr id="3" name="Content Placeholder 2">
            <a:extLst>
              <a:ext uri="{FF2B5EF4-FFF2-40B4-BE49-F238E27FC236}">
                <a16:creationId xmlns:a16="http://schemas.microsoft.com/office/drawing/2014/main" id="{061789D0-A426-0145-2887-8C458AEC3DF3}"/>
              </a:ext>
            </a:extLst>
          </p:cNvPr>
          <p:cNvSpPr>
            <a:spLocks noGrp="1"/>
          </p:cNvSpPr>
          <p:nvPr>
            <p:ph idx="1"/>
          </p:nvPr>
        </p:nvSpPr>
        <p:spPr/>
        <p:txBody>
          <a:bodyPr/>
          <a:lstStyle/>
          <a:p>
            <a:r>
              <a:rPr lang="en-US" dirty="0"/>
              <a:t>Data Understanding</a:t>
            </a:r>
          </a:p>
          <a:p>
            <a:r>
              <a:rPr lang="en-US" dirty="0"/>
              <a:t>Data Cleaning</a:t>
            </a:r>
          </a:p>
          <a:p>
            <a:r>
              <a:rPr lang="en-US" dirty="0"/>
              <a:t>Data Modelling</a:t>
            </a:r>
          </a:p>
          <a:p>
            <a:r>
              <a:rPr lang="en-US" dirty="0"/>
              <a:t>Data Analysis</a:t>
            </a:r>
          </a:p>
        </p:txBody>
      </p:sp>
    </p:spTree>
    <p:extLst>
      <p:ext uri="{BB962C8B-B14F-4D97-AF65-F5344CB8AC3E}">
        <p14:creationId xmlns:p14="http://schemas.microsoft.com/office/powerpoint/2010/main" val="3470608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55B3-421D-1183-88CD-FCC4E1F38C00}"/>
              </a:ext>
            </a:extLst>
          </p:cNvPr>
          <p:cNvSpPr>
            <a:spLocks noGrp="1"/>
          </p:cNvSpPr>
          <p:nvPr>
            <p:ph type="title"/>
          </p:nvPr>
        </p:nvSpPr>
        <p:spPr/>
        <p:txBody>
          <a:bodyPr/>
          <a:lstStyle/>
          <a:p>
            <a:r>
              <a:rPr lang="en-US" dirty="0"/>
              <a:t>INSIGHTS: Top 5 Categories</a:t>
            </a:r>
            <a:endParaRPr lang="en-KE" dirty="0"/>
          </a:p>
        </p:txBody>
      </p:sp>
      <p:pic>
        <p:nvPicPr>
          <p:cNvPr id="5" name="Content Placeholder 4" descr="A bar graph with text">
            <a:extLst>
              <a:ext uri="{FF2B5EF4-FFF2-40B4-BE49-F238E27FC236}">
                <a16:creationId xmlns:a16="http://schemas.microsoft.com/office/drawing/2014/main" id="{53770D39-CF7E-18BF-8CAE-7AA28015C2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515600" cy="4802187"/>
          </a:xfrm>
        </p:spPr>
      </p:pic>
      <p:pic>
        <p:nvPicPr>
          <p:cNvPr id="4" name="Picture 3">
            <a:extLst>
              <a:ext uri="{FF2B5EF4-FFF2-40B4-BE49-F238E27FC236}">
                <a16:creationId xmlns:a16="http://schemas.microsoft.com/office/drawing/2014/main" id="{71A6E633-ACEE-4B14-BBE5-CB739103B46E}"/>
              </a:ext>
            </a:extLst>
          </p:cNvPr>
          <p:cNvPicPr>
            <a:picLocks noChangeAspect="1"/>
          </p:cNvPicPr>
          <p:nvPr/>
        </p:nvPicPr>
        <p:blipFill>
          <a:blip r:embed="rId3"/>
          <a:stretch>
            <a:fillRect/>
          </a:stretch>
        </p:blipFill>
        <p:spPr>
          <a:xfrm>
            <a:off x="433387" y="142875"/>
            <a:ext cx="11325225" cy="6572250"/>
          </a:xfrm>
          <a:prstGeom prst="rect">
            <a:avLst/>
          </a:prstGeom>
        </p:spPr>
      </p:pic>
    </p:spTree>
    <p:extLst>
      <p:ext uri="{BB962C8B-B14F-4D97-AF65-F5344CB8AC3E}">
        <p14:creationId xmlns:p14="http://schemas.microsoft.com/office/powerpoint/2010/main" val="3171953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3ED2-3255-65DA-E889-A8AAAE76B3AC}"/>
              </a:ext>
            </a:extLst>
          </p:cNvPr>
          <p:cNvSpPr>
            <a:spLocks noGrp="1"/>
          </p:cNvSpPr>
          <p:nvPr>
            <p:ph type="title"/>
          </p:nvPr>
        </p:nvSpPr>
        <p:spPr/>
        <p:txBody>
          <a:bodyPr/>
          <a:lstStyle/>
          <a:p>
            <a:r>
              <a:rPr lang="en-US" dirty="0"/>
              <a:t>How many unique categories are there?</a:t>
            </a:r>
            <a:endParaRPr lang="en-KE" dirty="0"/>
          </a:p>
        </p:txBody>
      </p:sp>
      <p:sp>
        <p:nvSpPr>
          <p:cNvPr id="3" name="Content Placeholder 2">
            <a:extLst>
              <a:ext uri="{FF2B5EF4-FFF2-40B4-BE49-F238E27FC236}">
                <a16:creationId xmlns:a16="http://schemas.microsoft.com/office/drawing/2014/main" id="{C097143F-C914-A360-9CFD-88C2CCAC9DCA}"/>
              </a:ext>
            </a:extLst>
          </p:cNvPr>
          <p:cNvSpPr>
            <a:spLocks noGrp="1"/>
          </p:cNvSpPr>
          <p:nvPr>
            <p:ph idx="1"/>
          </p:nvPr>
        </p:nvSpPr>
        <p:spPr>
          <a:xfrm>
            <a:off x="838200" y="1897342"/>
            <a:ext cx="10515600" cy="4351338"/>
          </a:xfrm>
        </p:spPr>
        <p:txBody>
          <a:bodyPr>
            <a:normAutofit fontScale="40000" lnSpcReduction="20000"/>
          </a:bodyPr>
          <a:lstStyle/>
          <a:p>
            <a:pPr marL="0" indent="0">
              <a:buNone/>
            </a:pPr>
            <a:r>
              <a:rPr lang="en-US" dirty="0"/>
              <a:t>There are 16 categories</a:t>
            </a:r>
          </a:p>
          <a:p>
            <a:r>
              <a:rPr lang="en-US" dirty="0"/>
              <a:t>Studying</a:t>
            </a:r>
          </a:p>
          <a:p>
            <a:r>
              <a:rPr lang="en-US" dirty="0"/>
              <a:t>Healthy Eating</a:t>
            </a:r>
          </a:p>
          <a:p>
            <a:r>
              <a:rPr lang="en-US" dirty="0"/>
              <a:t>Technology</a:t>
            </a:r>
          </a:p>
          <a:p>
            <a:r>
              <a:rPr lang="en-US" dirty="0"/>
              <a:t>Food</a:t>
            </a:r>
          </a:p>
          <a:p>
            <a:r>
              <a:rPr lang="en-US" dirty="0"/>
              <a:t>Cooking</a:t>
            </a:r>
          </a:p>
          <a:p>
            <a:r>
              <a:rPr lang="en-US" dirty="0"/>
              <a:t>Dogs</a:t>
            </a:r>
          </a:p>
          <a:p>
            <a:r>
              <a:rPr lang="en-US" dirty="0"/>
              <a:t>Soccer</a:t>
            </a:r>
          </a:p>
          <a:p>
            <a:r>
              <a:rPr lang="en-US" dirty="0"/>
              <a:t>Public Speaking</a:t>
            </a:r>
          </a:p>
          <a:p>
            <a:r>
              <a:rPr lang="en-US" dirty="0"/>
              <a:t>Science</a:t>
            </a:r>
          </a:p>
          <a:p>
            <a:r>
              <a:rPr lang="en-US" dirty="0"/>
              <a:t>Tennis</a:t>
            </a:r>
          </a:p>
          <a:p>
            <a:r>
              <a:rPr lang="en-US" dirty="0"/>
              <a:t>Travel</a:t>
            </a:r>
          </a:p>
          <a:p>
            <a:r>
              <a:rPr lang="en-US" dirty="0"/>
              <a:t>Fitness</a:t>
            </a:r>
          </a:p>
          <a:p>
            <a:r>
              <a:rPr lang="en-US" dirty="0"/>
              <a:t>Education</a:t>
            </a:r>
          </a:p>
          <a:p>
            <a:r>
              <a:rPr lang="en-US" dirty="0"/>
              <a:t>Veganism</a:t>
            </a:r>
          </a:p>
          <a:p>
            <a:r>
              <a:rPr lang="en-US" dirty="0"/>
              <a:t>Animals</a:t>
            </a:r>
          </a:p>
          <a:p>
            <a:r>
              <a:rPr lang="en-US" dirty="0"/>
              <a:t>Culture</a:t>
            </a:r>
            <a:endParaRPr lang="en-KE" dirty="0"/>
          </a:p>
        </p:txBody>
      </p:sp>
      <p:pic>
        <p:nvPicPr>
          <p:cNvPr id="5" name="Picture 4">
            <a:extLst>
              <a:ext uri="{FF2B5EF4-FFF2-40B4-BE49-F238E27FC236}">
                <a16:creationId xmlns:a16="http://schemas.microsoft.com/office/drawing/2014/main" id="{ECAE5FCE-870C-401D-9C59-8CBD790D7A59}"/>
              </a:ext>
            </a:extLst>
          </p:cNvPr>
          <p:cNvPicPr>
            <a:picLocks noChangeAspect="1"/>
          </p:cNvPicPr>
          <p:nvPr/>
        </p:nvPicPr>
        <p:blipFill>
          <a:blip r:embed="rId2"/>
          <a:stretch>
            <a:fillRect/>
          </a:stretch>
        </p:blipFill>
        <p:spPr>
          <a:xfrm>
            <a:off x="62696" y="0"/>
            <a:ext cx="12066608" cy="6858000"/>
          </a:xfrm>
          <a:prstGeom prst="rect">
            <a:avLst/>
          </a:prstGeom>
        </p:spPr>
      </p:pic>
    </p:spTree>
    <p:extLst>
      <p:ext uri="{BB962C8B-B14F-4D97-AF65-F5344CB8AC3E}">
        <p14:creationId xmlns:p14="http://schemas.microsoft.com/office/powerpoint/2010/main" val="1177495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22EC6-488E-3A1B-2DA1-B98C92E4808C}"/>
              </a:ext>
            </a:extLst>
          </p:cNvPr>
          <p:cNvSpPr>
            <a:spLocks noGrp="1"/>
          </p:cNvSpPr>
          <p:nvPr>
            <p:ph type="title"/>
          </p:nvPr>
        </p:nvSpPr>
        <p:spPr/>
        <p:txBody>
          <a:bodyPr/>
          <a:lstStyle/>
          <a:p>
            <a:r>
              <a:rPr lang="en-US" dirty="0"/>
              <a:t>INSIGHTS: Top 5 Content Categories with their Reaction Count</a:t>
            </a:r>
            <a:endParaRPr lang="en-KE" dirty="0"/>
          </a:p>
        </p:txBody>
      </p:sp>
      <p:pic>
        <p:nvPicPr>
          <p:cNvPr id="5" name="Content Placeholder 4" descr="A bar graph with text on it&#10;&#10;Description automatically generated">
            <a:extLst>
              <a:ext uri="{FF2B5EF4-FFF2-40B4-BE49-F238E27FC236}">
                <a16:creationId xmlns:a16="http://schemas.microsoft.com/office/drawing/2014/main" id="{49672F10-5EB6-D7E7-4C1D-3E91558E8C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10515600" cy="4667250"/>
          </a:xfrm>
        </p:spPr>
      </p:pic>
      <p:pic>
        <p:nvPicPr>
          <p:cNvPr id="4" name="Picture 3">
            <a:extLst>
              <a:ext uri="{FF2B5EF4-FFF2-40B4-BE49-F238E27FC236}">
                <a16:creationId xmlns:a16="http://schemas.microsoft.com/office/drawing/2014/main" id="{AEDF7DDD-5BEC-4203-843F-1ACD5E92171D}"/>
              </a:ext>
            </a:extLst>
          </p:cNvPr>
          <p:cNvPicPr>
            <a:picLocks noChangeAspect="1"/>
          </p:cNvPicPr>
          <p:nvPr/>
        </p:nvPicPr>
        <p:blipFill>
          <a:blip r:embed="rId3"/>
          <a:stretch>
            <a:fillRect/>
          </a:stretch>
        </p:blipFill>
        <p:spPr>
          <a:xfrm>
            <a:off x="533400" y="90487"/>
            <a:ext cx="11125200" cy="6677025"/>
          </a:xfrm>
          <a:prstGeom prst="rect">
            <a:avLst/>
          </a:prstGeom>
        </p:spPr>
      </p:pic>
    </p:spTree>
    <p:extLst>
      <p:ext uri="{BB962C8B-B14F-4D97-AF65-F5344CB8AC3E}">
        <p14:creationId xmlns:p14="http://schemas.microsoft.com/office/powerpoint/2010/main" val="2024251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05BDD-75CD-3F97-B918-53D0D1C8D469}"/>
              </a:ext>
            </a:extLst>
          </p:cNvPr>
          <p:cNvSpPr>
            <a:spLocks noGrp="1"/>
          </p:cNvSpPr>
          <p:nvPr>
            <p:ph type="title"/>
          </p:nvPr>
        </p:nvSpPr>
        <p:spPr/>
        <p:txBody>
          <a:bodyPr/>
          <a:lstStyle/>
          <a:p>
            <a:r>
              <a:rPr lang="en-US" dirty="0"/>
              <a:t>What was the month with the most posts?</a:t>
            </a:r>
            <a:endParaRPr lang="en-KE" dirty="0"/>
          </a:p>
        </p:txBody>
      </p:sp>
      <p:sp>
        <p:nvSpPr>
          <p:cNvPr id="3" name="Content Placeholder 2">
            <a:extLst>
              <a:ext uri="{FF2B5EF4-FFF2-40B4-BE49-F238E27FC236}">
                <a16:creationId xmlns:a16="http://schemas.microsoft.com/office/drawing/2014/main" id="{8383FB9D-DC65-9801-1608-CD892D71FF86}"/>
              </a:ext>
            </a:extLst>
          </p:cNvPr>
          <p:cNvSpPr>
            <a:spLocks noGrp="1"/>
          </p:cNvSpPr>
          <p:nvPr>
            <p:ph idx="1"/>
          </p:nvPr>
        </p:nvSpPr>
        <p:spPr/>
        <p:txBody>
          <a:bodyPr/>
          <a:lstStyle/>
          <a:p>
            <a:pPr marL="0" indent="0">
              <a:buNone/>
            </a:pPr>
            <a:r>
              <a:rPr lang="en-US" dirty="0"/>
              <a:t> The month with the most posts is the month of May.</a:t>
            </a:r>
          </a:p>
          <a:p>
            <a:pPr marL="0" indent="0">
              <a:buNone/>
            </a:pPr>
            <a:endParaRPr lang="en-KE" dirty="0"/>
          </a:p>
        </p:txBody>
      </p:sp>
      <p:pic>
        <p:nvPicPr>
          <p:cNvPr id="5" name="Picture 4" descr="A graph of blue bars&#10;&#10;Description automatically generated">
            <a:extLst>
              <a:ext uri="{FF2B5EF4-FFF2-40B4-BE49-F238E27FC236}">
                <a16:creationId xmlns:a16="http://schemas.microsoft.com/office/drawing/2014/main" id="{39BBE7E2-5532-E9CD-0915-8BADA0478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2348752"/>
            <a:ext cx="10515600" cy="4144123"/>
          </a:xfrm>
          <a:prstGeom prst="rect">
            <a:avLst/>
          </a:prstGeom>
        </p:spPr>
      </p:pic>
      <p:pic>
        <p:nvPicPr>
          <p:cNvPr id="6" name="Picture 5">
            <a:extLst>
              <a:ext uri="{FF2B5EF4-FFF2-40B4-BE49-F238E27FC236}">
                <a16:creationId xmlns:a16="http://schemas.microsoft.com/office/drawing/2014/main" id="{7B97FCAE-B895-432B-91FE-626D2B1087A4}"/>
              </a:ext>
            </a:extLst>
          </p:cNvPr>
          <p:cNvPicPr>
            <a:picLocks noChangeAspect="1"/>
          </p:cNvPicPr>
          <p:nvPr/>
        </p:nvPicPr>
        <p:blipFill>
          <a:blip r:embed="rId3"/>
          <a:stretch>
            <a:fillRect/>
          </a:stretch>
        </p:blipFill>
        <p:spPr>
          <a:xfrm>
            <a:off x="1185862" y="557212"/>
            <a:ext cx="9820275" cy="5743575"/>
          </a:xfrm>
          <a:prstGeom prst="rect">
            <a:avLst/>
          </a:prstGeom>
        </p:spPr>
      </p:pic>
    </p:spTree>
    <p:extLst>
      <p:ext uri="{BB962C8B-B14F-4D97-AF65-F5344CB8AC3E}">
        <p14:creationId xmlns:p14="http://schemas.microsoft.com/office/powerpoint/2010/main" val="261855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B0F00B-6D33-401D-8EFD-83056D435D83}"/>
              </a:ext>
            </a:extLst>
          </p:cNvPr>
          <p:cNvPicPr>
            <a:picLocks noChangeAspect="1"/>
          </p:cNvPicPr>
          <p:nvPr/>
        </p:nvPicPr>
        <p:blipFill>
          <a:blip r:embed="rId2"/>
          <a:stretch>
            <a:fillRect/>
          </a:stretch>
        </p:blipFill>
        <p:spPr>
          <a:xfrm>
            <a:off x="1185862" y="595312"/>
            <a:ext cx="9820275" cy="5667375"/>
          </a:xfrm>
          <a:prstGeom prst="rect">
            <a:avLst/>
          </a:prstGeom>
        </p:spPr>
      </p:pic>
    </p:spTree>
    <p:extLst>
      <p:ext uri="{BB962C8B-B14F-4D97-AF65-F5344CB8AC3E}">
        <p14:creationId xmlns:p14="http://schemas.microsoft.com/office/powerpoint/2010/main" val="834873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8FAD67-2A5F-436D-B7FC-0575EFA99787}"/>
              </a:ext>
            </a:extLst>
          </p:cNvPr>
          <p:cNvSpPr txBox="1"/>
          <p:nvPr/>
        </p:nvSpPr>
        <p:spPr>
          <a:xfrm>
            <a:off x="914399" y="1859340"/>
            <a:ext cx="10182225" cy="4462760"/>
          </a:xfrm>
          <a:prstGeom prst="rect">
            <a:avLst/>
          </a:prstGeom>
          <a:noFill/>
        </p:spPr>
        <p:txBody>
          <a:bodyPr wrap="square">
            <a:spAutoFit/>
          </a:bodyPr>
          <a:lstStyle/>
          <a:p>
            <a:pPr algn="ctr"/>
            <a:r>
              <a:rPr lang="en-US" sz="3200" b="1" dirty="0"/>
              <a:t>Discussion</a:t>
            </a:r>
          </a:p>
          <a:p>
            <a:pPr algn="ctr"/>
            <a:endParaRPr lang="en-US" dirty="0"/>
          </a:p>
          <a:p>
            <a:r>
              <a:rPr lang="en-US" dirty="0"/>
              <a:t>The analysis of the job-postings dataset reveals several essential insights into the current landscape of data-related roles. First, contract positions consistently offer higher pay ranges than full-time or part-time roles. This aligns with broader industry patterns, where contract roles often compensate for the lack of long-term job security and benefits by offering higher hourly or project-based rates. For job seekers looking to maximize short-term earnings or individuals comfortable with flexible work arrangements, contract roles present a strong opportunity.</a:t>
            </a:r>
          </a:p>
          <a:p>
            <a:endParaRPr lang="en-US" dirty="0"/>
          </a:p>
          <a:p>
            <a:r>
              <a:rPr lang="en-US" dirty="0"/>
              <a:t>Another noteworthy finding is that most job postings do not specify a formal degree requirement, regardless of job type. This reflects a growing trend across the technology and data sectors, where employers increasingly prioritize hands-on experience, practical skills, and portfolio projects over traditional qualifications. The shift suggests that individuals without formal data analytics education can still access high-value roles if they demonstrate competence through real-world projects, certifications, or strong technical proficiency.</a:t>
            </a:r>
          </a:p>
        </p:txBody>
      </p:sp>
    </p:spTree>
    <p:extLst>
      <p:ext uri="{BB962C8B-B14F-4D97-AF65-F5344CB8AC3E}">
        <p14:creationId xmlns:p14="http://schemas.microsoft.com/office/powerpoint/2010/main" val="4213302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6532E1-BA42-4334-ADE9-193054A4B1F0}"/>
              </a:ext>
            </a:extLst>
          </p:cNvPr>
          <p:cNvSpPr txBox="1"/>
          <p:nvPr/>
        </p:nvSpPr>
        <p:spPr>
          <a:xfrm>
            <a:off x="1285875" y="1166843"/>
            <a:ext cx="9620249" cy="3416320"/>
          </a:xfrm>
          <a:prstGeom prst="rect">
            <a:avLst/>
          </a:prstGeom>
          <a:noFill/>
        </p:spPr>
        <p:txBody>
          <a:bodyPr wrap="square">
            <a:spAutoFit/>
          </a:bodyPr>
          <a:lstStyle/>
          <a:p>
            <a:r>
              <a:rPr lang="en-US" dirty="0"/>
              <a:t>The dataset also shows that LinkedIn is the dominant platform for job postings, far surpassing other sources. This emphasizes LinkedIn’s importance as a central hub for both job discovery and professional visibility. For job seekers, maintaining an optimized and active LinkedIn profile is essential, as it increases exposure to recruiters and aligns with where employers are posting the majority of opportunities.</a:t>
            </a:r>
          </a:p>
          <a:p>
            <a:endParaRPr lang="en-US" dirty="0"/>
          </a:p>
          <a:p>
            <a:r>
              <a:rPr lang="en-US" dirty="0"/>
              <a:t>In terms of required skills, Python, SQL, and Excel emerge as the most frequently requested across all job categories. These three tools form the core technical stack for modern data work. Python supports automation, machine learning, and scripting; SQL remains fundamental for database querying; and Excel continues to be widely used for exploratory analysis, business reporting, and rapid prototyping. Their dominance highlights that employers expect candidates to be versatile in both programming and traditional analytical tools.</a:t>
            </a:r>
          </a:p>
        </p:txBody>
      </p:sp>
    </p:spTree>
    <p:extLst>
      <p:ext uri="{BB962C8B-B14F-4D97-AF65-F5344CB8AC3E}">
        <p14:creationId xmlns:p14="http://schemas.microsoft.com/office/powerpoint/2010/main" val="4016257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FAEC4A-0607-49BC-ADDB-84CD10F159B8}"/>
              </a:ext>
            </a:extLst>
          </p:cNvPr>
          <p:cNvSpPr txBox="1"/>
          <p:nvPr/>
        </p:nvSpPr>
        <p:spPr>
          <a:xfrm>
            <a:off x="1162050" y="751344"/>
            <a:ext cx="8991600" cy="4185761"/>
          </a:xfrm>
          <a:prstGeom prst="rect">
            <a:avLst/>
          </a:prstGeom>
          <a:noFill/>
        </p:spPr>
        <p:txBody>
          <a:bodyPr wrap="square">
            <a:spAutoFit/>
          </a:bodyPr>
          <a:lstStyle/>
          <a:p>
            <a:pPr algn="ctr"/>
            <a:r>
              <a:rPr lang="en-US" dirty="0"/>
              <a:t> </a:t>
            </a:r>
            <a:r>
              <a:rPr lang="en-US" sz="3200" b="1" dirty="0"/>
              <a:t>Conclusion</a:t>
            </a:r>
          </a:p>
          <a:p>
            <a:endParaRPr lang="en-US" dirty="0"/>
          </a:p>
          <a:p>
            <a:r>
              <a:rPr lang="en-US" dirty="0"/>
              <a:t>Overall, the findings indicate a job market that highly values skills, flexibility, and visibility. Contract roles offer strong compensation opportunities, suggesting that skill-driven specialists can earn more through short-term engagements. The lack of strict degree requirements reflects a shift toward skills-based hiring, making data roles more accessible to non-traditional learners. With most job postings concentrated on LinkedIn, job seekers should prioritize building a strong online presence and actively engaging on the platform.</a:t>
            </a:r>
          </a:p>
          <a:p>
            <a:endParaRPr lang="en-US" dirty="0"/>
          </a:p>
          <a:p>
            <a:r>
              <a:rPr lang="en-US" dirty="0"/>
              <a:t>Finally, with Python, SQL, and Excel consistently ranking as the most in-demand skills, aspiring data professionals should focus their learning paths around these tools. Mastery of this core technical stack significantly increases employability across a wide range of analytical and business intelligence roles. Together, these insights provide a clear roadmap for anyone looking to enter or advance in the data job market.</a:t>
            </a:r>
          </a:p>
        </p:txBody>
      </p:sp>
    </p:spTree>
    <p:extLst>
      <p:ext uri="{BB962C8B-B14F-4D97-AF65-F5344CB8AC3E}">
        <p14:creationId xmlns:p14="http://schemas.microsoft.com/office/powerpoint/2010/main" val="2180802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988</TotalTime>
  <Words>714</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Data Analysis Job</vt:lpstr>
      <vt:lpstr>Today’s Agenda</vt:lpstr>
      <vt:lpstr>Project Recap</vt:lpstr>
      <vt:lpstr>Problem</vt:lpstr>
      <vt:lpstr>The Analytics Team</vt:lpstr>
      <vt:lpstr>Process</vt:lpstr>
      <vt:lpstr>INSIGHTS: Top 5 Categories</vt:lpstr>
      <vt:lpstr>How many unique categories are there?</vt:lpstr>
      <vt:lpstr>INSIGHTS: Top 5 Content Categories with their Reaction Count</vt:lpstr>
      <vt:lpstr>What was the month with the most posts?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Job</dc:title>
  <dc:creator>Umer Hamdan</dc:creator>
  <cp:lastModifiedBy>moses macharia</cp:lastModifiedBy>
  <cp:revision>11</cp:revision>
  <dcterms:created xsi:type="dcterms:W3CDTF">2024-09-11T10:10:33Z</dcterms:created>
  <dcterms:modified xsi:type="dcterms:W3CDTF">2025-11-30T11:44:02Z</dcterms:modified>
</cp:coreProperties>
</file>